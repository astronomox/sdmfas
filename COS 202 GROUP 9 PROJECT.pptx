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Bold" charset="1" panose="00000000000000000000"/>
      <p:regular r:id="rId17"/>
    </p:embeddedFont>
    <p:embeddedFont>
      <p:font typeface="DM Sans" charset="1" panose="00000000000000000000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7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71F33">
                <a:alpha val="57647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90600" y="781050"/>
            <a:ext cx="6858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42D9D2"/>
                </a:solidFill>
                <a:latin typeface="DM Sans Bold"/>
                <a:ea typeface="DM Sans Bold"/>
                <a:cs typeface="DM Sans Bold"/>
                <a:sym typeface="DM Sans Bold"/>
              </a:rPr>
              <a:t>COS202  •  GROUP 9 PROJECT PROPOSAL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2524125"/>
            <a:ext cx="11144250" cy="24989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67"/>
              </a:lnSpc>
            </a:pPr>
            <a:r>
              <a:rPr lang="en-US" sz="6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Smart Drainage</a:t>
            </a:r>
          </a:p>
          <a:p>
            <a:pPr algn="l">
              <a:lnSpc>
                <a:spcPts val="6467"/>
              </a:lnSpc>
            </a:pPr>
            <a:r>
              <a:rPr lang="en-US" sz="6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Monitoring and</a:t>
            </a:r>
          </a:p>
          <a:p>
            <a:pPr algn="l">
              <a:lnSpc>
                <a:spcPts val="6467"/>
              </a:lnSpc>
            </a:pPr>
            <a:r>
              <a:rPr lang="en-US" sz="66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Flood Alert System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315950" y="2371725"/>
            <a:ext cx="3333750" cy="422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65"/>
              </a:lnSpc>
            </a:pPr>
            <a:r>
              <a:rPr lang="en-US" sz="2475" b="true">
                <a:solidFill>
                  <a:srgbClr val="071F33"/>
                </a:solidFill>
                <a:latin typeface="DM Sans Bold"/>
                <a:ea typeface="DM Sans Bold"/>
                <a:cs typeface="DM Sans Bold"/>
                <a:sym typeface="DM Sans Bold"/>
              </a:rPr>
              <a:t>SDMFAS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90600" y="6229350"/>
            <a:ext cx="1428750" cy="76200"/>
            <a:chOff x="0" y="0"/>
            <a:chExt cx="1905000" cy="1016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05000" cy="101600"/>
            </a:xfrm>
            <a:custGeom>
              <a:avLst/>
              <a:gdLst/>
              <a:ahLst/>
              <a:cxnLst/>
              <a:rect r="r" b="b" t="t" l="l"/>
              <a:pathLst>
                <a:path h="101600" w="1905000">
                  <a:moveTo>
                    <a:pt x="0" y="0"/>
                  </a:moveTo>
                  <a:lnTo>
                    <a:pt x="1905000" y="0"/>
                  </a:lnTo>
                  <a:lnTo>
                    <a:pt x="19050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42D9D2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905000" cy="139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90600" y="6638925"/>
            <a:ext cx="10001250" cy="3354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02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 Community-Driven Digital Platform for Flood Detection, Reporting, and Response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" y="8858250"/>
            <a:ext cx="57150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42D9D2"/>
                </a:solidFill>
                <a:latin typeface="DM Sans Bold"/>
                <a:ea typeface="DM Sans Bold"/>
                <a:cs typeface="DM Sans Bold"/>
                <a:sym typeface="DM Sans Bold"/>
              </a:rPr>
              <a:t>CASE STUDY  /  LAGOS STATE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52450"/>
            <a:ext cx="16306800" cy="1381125"/>
            <a:chOff x="0" y="0"/>
            <a:chExt cx="21742400" cy="1841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5207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COS202  /  GROUP 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33425"/>
              <a:ext cx="18415000" cy="771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Team Members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396200" y="12700"/>
              <a:ext cx="13335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b="true" sz="1500" spc="210">
                  <a:solidFill>
                    <a:srgbClr val="0B5F8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 / 11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828800"/>
              <a:ext cx="21742400" cy="0"/>
            </a:xfrm>
            <a:prstGeom prst="line">
              <a:avLst/>
            </a:prstGeom>
            <a:ln cap="flat" w="25400">
              <a:solidFill>
                <a:srgbClr val="CFE0E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0600" y="2324100"/>
            <a:ext cx="16306800" cy="7543800"/>
            <a:chOff x="0" y="0"/>
            <a:chExt cx="21742400" cy="100584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1742400" cy="10058400"/>
            </a:xfrm>
            <a:custGeom>
              <a:avLst/>
              <a:gdLst/>
              <a:ahLst/>
              <a:cxnLst/>
              <a:rect r="r" b="b" t="t" l="l"/>
              <a:pathLst>
                <a:path h="100584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10058400"/>
                  </a:lnTo>
                  <a:lnTo>
                    <a:pt x="0" y="10058400"/>
                  </a:lnTo>
                  <a:close/>
                </a:path>
              </a:pathLst>
            </a:custGeom>
            <a:solidFill>
              <a:srgbClr val="FFFFFF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21742400" cy="10096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990600" y="2324100"/>
            <a:ext cx="16306800" cy="628650"/>
            <a:chOff x="0" y="0"/>
            <a:chExt cx="21742400" cy="8382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217424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0B5F82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217424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90600" y="3581400"/>
            <a:ext cx="16306800" cy="628650"/>
            <a:chOff x="0" y="0"/>
            <a:chExt cx="21742400" cy="8382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17424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E8F2F4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217424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990600" y="4838700"/>
            <a:ext cx="16306800" cy="628650"/>
            <a:chOff x="0" y="0"/>
            <a:chExt cx="21742400" cy="838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17424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E8F2F4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-38100"/>
              <a:ext cx="217424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0600" y="6096000"/>
            <a:ext cx="16306800" cy="628650"/>
            <a:chOff x="0" y="0"/>
            <a:chExt cx="21742400" cy="8382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17424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E8F2F4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217424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990600" y="7353300"/>
            <a:ext cx="16306800" cy="628650"/>
            <a:chOff x="0" y="0"/>
            <a:chExt cx="21742400" cy="8382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17424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E8F2F4"/>
            </a:solidFill>
            <a:ln cap="sq">
              <a:noFill/>
              <a:prstDash val="solid"/>
              <a:miter/>
            </a:ln>
          </p:spPr>
        </p:sp>
        <p:sp>
          <p:nvSpPr>
            <p:cNvPr name="TextBox 24" id="24"/>
            <p:cNvSpPr txBox="true"/>
            <p:nvPr/>
          </p:nvSpPr>
          <p:spPr>
            <a:xfrm>
              <a:off x="0" y="-38100"/>
              <a:ext cx="217424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90600" y="8610600"/>
            <a:ext cx="16306800" cy="628650"/>
            <a:chOff x="0" y="0"/>
            <a:chExt cx="21742400" cy="838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1742400" cy="838200"/>
            </a:xfrm>
            <a:custGeom>
              <a:avLst/>
              <a:gdLst/>
              <a:ahLst/>
              <a:cxnLst/>
              <a:rect r="r" b="b" t="t" l="l"/>
              <a:pathLst>
                <a:path h="838200" w="21742400">
                  <a:moveTo>
                    <a:pt x="0" y="0"/>
                  </a:moveTo>
                  <a:lnTo>
                    <a:pt x="21742400" y="0"/>
                  </a:lnTo>
                  <a:lnTo>
                    <a:pt x="21742400" y="838200"/>
                  </a:lnTo>
                  <a:lnTo>
                    <a:pt x="0" y="838200"/>
                  </a:lnTo>
                  <a:close/>
                </a:path>
              </a:pathLst>
            </a:custGeom>
            <a:solidFill>
              <a:srgbClr val="E8F2F4"/>
            </a:solidFill>
            <a:ln cap="sq">
              <a:noFill/>
              <a:prstDash val="solid"/>
              <a:miter/>
            </a:ln>
          </p:spPr>
        </p:sp>
        <p:sp>
          <p:nvSpPr>
            <p:cNvPr name="TextBox 27" id="27"/>
            <p:cNvSpPr txBox="true"/>
            <p:nvPr/>
          </p:nvSpPr>
          <p:spPr>
            <a:xfrm>
              <a:off x="0" y="-38100"/>
              <a:ext cx="21742400" cy="876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1104900" y="2476500"/>
            <a:ext cx="4381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S/N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924050" y="2476500"/>
            <a:ext cx="24384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MATRIC NUMBER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4733925" y="2476500"/>
            <a:ext cx="72009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NAME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306300" y="2476500"/>
            <a:ext cx="481965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DEPARTMENT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104900" y="309562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1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924050" y="309562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240805057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4733925" y="309562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Oyetimehin Ibukunoluwa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2306300" y="309562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Computer Science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104900" y="372427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924050" y="372427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240805051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4733925" y="372427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Atanda Praise Kehinde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12306300" y="372427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Computer Science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104900" y="435292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3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924050" y="435292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240805028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4733925" y="435292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00A6A6"/>
                </a:solidFill>
                <a:latin typeface="DM Sans Bold"/>
                <a:ea typeface="DM Sans Bold"/>
                <a:cs typeface="DM Sans Bold"/>
                <a:sym typeface="DM Sans Bold"/>
              </a:rPr>
              <a:t>Olayinka Idrak Olamiji  •  Team Captain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12306300" y="435292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Computer Science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104900" y="498157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4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924050" y="498157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240805084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4733925" y="498157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Omilabu Ahmad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2306300" y="498157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Computer Science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104900" y="561022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5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924050" y="561022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240806097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4733925" y="561022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Moshood Jamaldeen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2306300" y="561022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Mathematics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104900" y="623887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6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924050" y="623887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240817042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733925" y="623887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Sadiq Fuad Oluwaseyi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2306300" y="623887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Data Science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104900" y="686752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7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924050" y="686752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240817006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4733925" y="686752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Nnani Chibuzo Micah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2306300" y="686752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Data Science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104900" y="749617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8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924050" y="749617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240817014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4733925" y="749617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Oriola Abdullahi Adeola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2306300" y="749617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Data Science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04900" y="812482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9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924050" y="812482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240313006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4733925" y="812482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Jacob Grace Oyinyechi  •  Asst. Captain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306300" y="812482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Mathematics Education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104900" y="875347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10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924050" y="875347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252605501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4733925" y="875347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Amechi Chibueze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306300" y="875347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Mathematics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04900" y="9382125"/>
            <a:ext cx="4381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11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924050" y="9382125"/>
            <a:ext cx="24384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252609505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4733925" y="9382125"/>
            <a:ext cx="720090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Shodipe-Dosunmu Adeola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2306300" y="9382125"/>
            <a:ext cx="4819650" cy="272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10"/>
              </a:lnSpc>
            </a:pPr>
            <a:r>
              <a:rPr lang="en-US" sz="1650">
                <a:solidFill>
                  <a:srgbClr val="102C3C"/>
                </a:solidFill>
                <a:latin typeface="DM Sans"/>
                <a:ea typeface="DM Sans"/>
                <a:cs typeface="DM Sans"/>
                <a:sym typeface="DM Sans"/>
              </a:rPr>
              <a:t>Data Science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52450"/>
            <a:ext cx="16306800" cy="1381125"/>
            <a:chOff x="0" y="0"/>
            <a:chExt cx="21742400" cy="1841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5207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COS202  /  GROUP 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33425"/>
              <a:ext cx="18415000" cy="771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The Problem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396200" y="12700"/>
              <a:ext cx="13335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b="true" sz="1500" spc="210">
                  <a:solidFill>
                    <a:srgbClr val="0B5F8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 / 11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828800"/>
              <a:ext cx="21742400" cy="0"/>
            </a:xfrm>
            <a:prstGeom prst="line">
              <a:avLst/>
            </a:prstGeom>
            <a:ln cap="flat" w="25400">
              <a:solidFill>
                <a:srgbClr val="CFE0E5"/>
              </a:solidFill>
              <a:prstDash val="solid"/>
              <a:headEnd type="none" len="sm" w="sm"/>
              <a:tailEnd type="none" len="sm" w="sm"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9620250" y="2343150"/>
            <a:ext cx="7677150" cy="6953250"/>
          </a:xfrm>
          <a:custGeom>
            <a:avLst/>
            <a:gdLst/>
            <a:ahLst/>
            <a:cxnLst/>
            <a:rect r="r" b="b" t="t" l="l"/>
            <a:pathLst>
              <a:path h="6953250" w="7677150">
                <a:moveTo>
                  <a:pt x="0" y="0"/>
                </a:moveTo>
                <a:lnTo>
                  <a:pt x="7677150" y="0"/>
                </a:lnTo>
                <a:lnTo>
                  <a:pt x="7677150" y="6953250"/>
                </a:lnTo>
                <a:lnTo>
                  <a:pt x="0" y="69532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0507" t="0" r="-30507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8" id="8"/>
          <p:cNvGrpSpPr/>
          <p:nvPr/>
        </p:nvGrpSpPr>
        <p:grpSpPr>
          <a:xfrm rot="0">
            <a:off x="10001250" y="8362950"/>
            <a:ext cx="3905250" cy="590550"/>
            <a:chOff x="0" y="0"/>
            <a:chExt cx="5207000" cy="7874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207000" cy="787400"/>
            </a:xfrm>
            <a:custGeom>
              <a:avLst/>
              <a:gdLst/>
              <a:ahLst/>
              <a:cxnLst/>
              <a:rect r="r" b="b" t="t" l="l"/>
              <a:pathLst>
                <a:path h="787400" w="5207000">
                  <a:moveTo>
                    <a:pt x="0" y="0"/>
                  </a:moveTo>
                  <a:lnTo>
                    <a:pt x="5207000" y="0"/>
                  </a:lnTo>
                  <a:lnTo>
                    <a:pt x="5207000" y="787400"/>
                  </a:lnTo>
                  <a:lnTo>
                    <a:pt x="0" y="787400"/>
                  </a:lnTo>
                  <a:close/>
                </a:path>
              </a:pathLst>
            </a:custGeom>
            <a:solidFill>
              <a:srgbClr val="071F33">
                <a:alpha val="87843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207000" cy="825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990600" y="2562225"/>
            <a:ext cx="7524750" cy="94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26"/>
              </a:lnSpc>
            </a:pPr>
            <a:r>
              <a:rPr lang="en-US" sz="3450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Flooding is recurring — but reporting remains fragmented.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4705350"/>
            <a:ext cx="7524750" cy="74199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00A6A6"/>
                </a:solidFill>
                <a:latin typeface="DM Sans Bold"/>
                <a:ea typeface="DM Sans Bold"/>
                <a:cs typeface="DM Sans Bold"/>
                <a:sym typeface="DM Sans Bold"/>
              </a:rPr>
              <a:t>LEKKI  •  AJAH  •  APAPA</a:t>
            </a:r>
          </a:p>
          <a:p>
            <a:pPr algn="l">
              <a:lnSpc>
                <a:spcPts val="3037"/>
              </a:lnSpc>
            </a:pPr>
            <a:r>
              <a:rPr lang="en-US" sz="2025" b="true">
                <a:solidFill>
                  <a:srgbClr val="00A6A6"/>
                </a:solidFill>
                <a:latin typeface="DM Sans Bold"/>
                <a:ea typeface="DM Sans Bold"/>
                <a:cs typeface="DM Sans Bold"/>
                <a:sym typeface="DM Sans Bold"/>
              </a:rPr>
              <a:t>IYANA-IPAJA  •  AGEGE</a:t>
            </a:r>
          </a:p>
        </p:txBody>
      </p:sp>
      <p:sp>
        <p:nvSpPr>
          <p:cNvPr name="AutoShape 13" id="13"/>
          <p:cNvSpPr/>
          <p:nvPr/>
        </p:nvSpPr>
        <p:spPr>
          <a:xfrm>
            <a:off x="990600" y="5953125"/>
            <a:ext cx="7105650" cy="0"/>
          </a:xfrm>
          <a:prstGeom prst="line">
            <a:avLst/>
          </a:prstGeom>
          <a:ln cap="flat" w="28575">
            <a:solidFill>
              <a:srgbClr val="42D9D2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990600" y="6257925"/>
            <a:ext cx="7239000" cy="67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025">
                <a:solidFill>
                  <a:srgbClr val="58717E"/>
                </a:solidFill>
                <a:latin typeface="DM Sans"/>
                <a:ea typeface="DM Sans"/>
                <a:cs typeface="DM Sans"/>
                <a:sym typeface="DM Sans"/>
              </a:rPr>
              <a:t>Blocked drains, silt build-up and illegal dumping compound delayed maintenance response.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39375" y="8524875"/>
            <a:ext cx="3429000" cy="2009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87"/>
              </a:lnSpc>
            </a:pPr>
            <a:r>
              <a:rPr lang="en-US" sz="1350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Flooded Lagos streets / drainage pressure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7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52450"/>
            <a:ext cx="16306800" cy="1381125"/>
            <a:chOff x="0" y="0"/>
            <a:chExt cx="21742400" cy="1841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5207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COS202  /  GROUP 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33425"/>
              <a:ext cx="18415000" cy="771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Why It Matters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396200" y="12700"/>
              <a:ext cx="13335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b="true" sz="1500" spc="21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 / 11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828800"/>
              <a:ext cx="21742400" cy="0"/>
            </a:xfrm>
            <a:prstGeom prst="line">
              <a:avLst/>
            </a:prstGeom>
            <a:ln cap="flat" w="25400">
              <a:solidFill>
                <a:srgbClr val="24506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0600" y="2714625"/>
            <a:ext cx="5048250" cy="5524500"/>
            <a:chOff x="0" y="0"/>
            <a:chExt cx="6731000" cy="7366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731000" cy="7366000"/>
              <a:chOff x="0" y="0"/>
              <a:chExt cx="6731000" cy="7366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731000" cy="7366000"/>
              </a:xfrm>
              <a:custGeom>
                <a:avLst/>
                <a:gdLst/>
                <a:ahLst/>
                <a:cxnLst/>
                <a:rect r="r" b="b" t="t" l="l"/>
                <a:pathLst>
                  <a:path h="7366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7366000"/>
                    </a:lnTo>
                    <a:lnTo>
                      <a:pt x="0" y="7366000"/>
                    </a:lnTo>
                    <a:close/>
                  </a:path>
                </a:pathLst>
              </a:custGeom>
              <a:solidFill>
                <a:srgbClr val="0A33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731000" cy="740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82600" y="365125"/>
              <a:ext cx="1397000" cy="1257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80"/>
                </a:lnSpc>
              </a:pPr>
              <a:r>
                <a:rPr lang="en-US" sz="5700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₦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82600" y="2057400"/>
              <a:ext cx="5715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ECONOMY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82600" y="3200400"/>
              <a:ext cx="5715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Disrupted commerce, commutes and livelihoods.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62725" y="2714625"/>
            <a:ext cx="5048250" cy="5524500"/>
            <a:chOff x="0" y="0"/>
            <a:chExt cx="6731000" cy="7366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731000" cy="7366000"/>
              <a:chOff x="0" y="0"/>
              <a:chExt cx="6731000" cy="7366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731000" cy="7366000"/>
              </a:xfrm>
              <a:custGeom>
                <a:avLst/>
                <a:gdLst/>
                <a:ahLst/>
                <a:cxnLst/>
                <a:rect r="r" b="b" t="t" l="l"/>
                <a:pathLst>
                  <a:path h="7366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7366000"/>
                    </a:lnTo>
                    <a:lnTo>
                      <a:pt x="0" y="7366000"/>
                    </a:lnTo>
                    <a:close/>
                  </a:path>
                </a:pathLst>
              </a:custGeom>
              <a:solidFill>
                <a:srgbClr val="0B496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731000" cy="740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82600" y="365125"/>
              <a:ext cx="1397000" cy="1257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80"/>
                </a:lnSpc>
              </a:pPr>
              <a:r>
                <a:rPr lang="en-US" sz="5700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+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82600" y="2057400"/>
              <a:ext cx="5715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HEALTH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2600" y="3200400"/>
              <a:ext cx="5715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Stagnant floodwater raises statewide public-health risks.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34850" y="2714625"/>
            <a:ext cx="5048250" cy="5524500"/>
            <a:chOff x="0" y="0"/>
            <a:chExt cx="6731000" cy="7366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731000" cy="7366000"/>
              <a:chOff x="0" y="0"/>
              <a:chExt cx="6731000" cy="7366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731000" cy="7366000"/>
              </a:xfrm>
              <a:custGeom>
                <a:avLst/>
                <a:gdLst/>
                <a:ahLst/>
                <a:cxnLst/>
                <a:rect r="r" b="b" t="t" l="l"/>
                <a:pathLst>
                  <a:path h="7366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7366000"/>
                    </a:lnTo>
                    <a:lnTo>
                      <a:pt x="0" y="7366000"/>
                    </a:lnTo>
                    <a:close/>
                  </a:path>
                </a:pathLst>
              </a:custGeom>
              <a:solidFill>
                <a:srgbClr val="0A334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731000" cy="740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365125"/>
              <a:ext cx="1397000" cy="125793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7980"/>
                </a:lnSpc>
              </a:pPr>
              <a:r>
                <a:rPr lang="en-US" sz="5700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!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2057400"/>
              <a:ext cx="5715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SAFETY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82600" y="3200400"/>
              <a:ext cx="5715000" cy="99695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037"/>
                </a:lnSpc>
              </a:pPr>
              <a:r>
                <a:rPr lang="en-US" sz="225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Pedestrians and motorists face hidden, fast-moving hazards.</a:t>
              </a: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286000" y="8715375"/>
            <a:ext cx="137160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42D9D2"/>
                </a:solidFill>
                <a:latin typeface="DM Sans Bold"/>
                <a:ea typeface="DM Sans Bold"/>
                <a:cs typeface="DM Sans Bold"/>
                <a:sym typeface="DM Sans Bold"/>
              </a:rPr>
              <a:t>A drainage failure becomes an economic, safety and health crisis.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52450"/>
            <a:ext cx="16306800" cy="1381125"/>
            <a:chOff x="0" y="0"/>
            <a:chExt cx="21742400" cy="1841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5207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COS202  /  GROUP 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33425"/>
              <a:ext cx="18415000" cy="771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Our Solution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396200" y="12700"/>
              <a:ext cx="13335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b="true" sz="1500" spc="210">
                  <a:solidFill>
                    <a:srgbClr val="0B5F8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05 / 11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828800"/>
              <a:ext cx="21742400" cy="0"/>
            </a:xfrm>
            <a:prstGeom prst="line">
              <a:avLst/>
            </a:prstGeom>
            <a:ln cap="flat" w="25400">
              <a:solidFill>
                <a:srgbClr val="CFE0E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0668000" y="2333625"/>
            <a:ext cx="6629400" cy="7000875"/>
            <a:chOff x="0" y="0"/>
            <a:chExt cx="8839200" cy="93345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839200" cy="9334500"/>
            </a:xfrm>
            <a:custGeom>
              <a:avLst/>
              <a:gdLst/>
              <a:ahLst/>
              <a:cxnLst/>
              <a:rect r="r" b="b" t="t" l="l"/>
              <a:pathLst>
                <a:path h="9334500" w="8839200">
                  <a:moveTo>
                    <a:pt x="0" y="0"/>
                  </a:moveTo>
                  <a:lnTo>
                    <a:pt x="8839200" y="0"/>
                  </a:lnTo>
                  <a:lnTo>
                    <a:pt x="8839200" y="9334500"/>
                  </a:lnTo>
                  <a:lnTo>
                    <a:pt x="0" y="9334500"/>
                  </a:lnTo>
                  <a:close/>
                </a:path>
              </a:pathLst>
            </a:custGeom>
            <a:solidFill>
              <a:srgbClr val="DFF3F3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8839200" cy="93726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Freeform 10" id="10"/>
          <p:cNvSpPr/>
          <p:nvPr/>
        </p:nvSpPr>
        <p:spPr>
          <a:xfrm flipH="false" flipV="false" rot="0">
            <a:off x="11811000" y="2571750"/>
            <a:ext cx="4572000" cy="6477000"/>
          </a:xfrm>
          <a:custGeom>
            <a:avLst/>
            <a:gdLst/>
            <a:ahLst/>
            <a:cxnLst/>
            <a:rect r="r" b="b" t="t" l="l"/>
            <a:pathLst>
              <a:path h="6477000" w="4572000">
                <a:moveTo>
                  <a:pt x="0" y="0"/>
                </a:moveTo>
                <a:lnTo>
                  <a:pt x="4572000" y="0"/>
                </a:lnTo>
                <a:lnTo>
                  <a:pt x="4572000" y="6477000"/>
                </a:lnTo>
                <a:lnTo>
                  <a:pt x="0" y="647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974" r="0" b="-2974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1" id="11"/>
          <p:cNvSpPr txBox="true"/>
          <p:nvPr/>
        </p:nvSpPr>
        <p:spPr>
          <a:xfrm rot="0">
            <a:off x="990600" y="2667000"/>
            <a:ext cx="8572500" cy="19021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72"/>
              </a:lnSpc>
            </a:pPr>
            <a:r>
              <a:rPr lang="en-US" sz="4875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One platform.</a:t>
            </a:r>
          </a:p>
          <a:p>
            <a:pPr algn="l">
              <a:lnSpc>
                <a:spcPts val="4972"/>
              </a:lnSpc>
            </a:pPr>
            <a:r>
              <a:rPr lang="en-US" sz="4875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From street report</a:t>
            </a:r>
          </a:p>
          <a:p>
            <a:pPr algn="l">
              <a:lnSpc>
                <a:spcPts val="4972"/>
              </a:lnSpc>
            </a:pPr>
            <a:r>
              <a:rPr lang="en-US" sz="4875" b="true">
                <a:solidFill>
                  <a:srgbClr val="102C3C"/>
                </a:solidFill>
                <a:latin typeface="DM Sans Bold"/>
                <a:ea typeface="DM Sans Bold"/>
                <a:cs typeface="DM Sans Bold"/>
                <a:sym typeface="DM Sans Bold"/>
              </a:rPr>
              <a:t>to public response.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90600" y="5676900"/>
            <a:ext cx="85725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00A6A6"/>
                </a:solidFill>
                <a:latin typeface="DM Sans Bold"/>
                <a:ea typeface="DM Sans Bold"/>
                <a:cs typeface="DM Sans Bold"/>
                <a:sym typeface="DM Sans Bold"/>
              </a:rPr>
              <a:t>01  REPORT   →   02  ROUTE   →   03  ALERT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90600" y="6638925"/>
            <a:ext cx="8572500" cy="1021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025">
                <a:solidFill>
                  <a:srgbClr val="58717E"/>
                </a:solidFill>
                <a:latin typeface="DM Sans"/>
                <a:ea typeface="DM Sans"/>
                <a:cs typeface="DM Sans"/>
                <a:sym typeface="DM Sans"/>
              </a:rPr>
              <a:t>Residents, commuters and businesses submit a location, photo and description. SDMFAS routes the incident to the responsible LGA and updates a public flood-status dashboard.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52450"/>
            <a:ext cx="16306800" cy="1381125"/>
            <a:chOff x="0" y="0"/>
            <a:chExt cx="21742400" cy="1841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5207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COS202  /  GROUP 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33425"/>
              <a:ext cx="18415000" cy="771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Alignment with Project Criteria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396200" y="12700"/>
              <a:ext cx="13335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b="true" sz="1500" spc="210">
                  <a:solidFill>
                    <a:srgbClr val="0B5F8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06 / 11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828800"/>
              <a:ext cx="21742400" cy="0"/>
            </a:xfrm>
            <a:prstGeom prst="line">
              <a:avLst/>
            </a:prstGeom>
            <a:ln cap="flat" w="25400">
              <a:solidFill>
                <a:srgbClr val="CFE0E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0600" y="2686050"/>
            <a:ext cx="5048250" cy="6000750"/>
            <a:chOff x="0" y="0"/>
            <a:chExt cx="6731000" cy="8001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6731000" cy="8001000"/>
              <a:chOff x="0" y="0"/>
              <a:chExt cx="6731000" cy="8001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6731000" cy="8001000"/>
              </a:xfrm>
              <a:custGeom>
                <a:avLst/>
                <a:gdLst/>
                <a:ahLst/>
                <a:cxnLst/>
                <a:rect r="r" b="b" t="t" l="l"/>
                <a:pathLst>
                  <a:path h="8001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001000"/>
                    </a:lnTo>
                    <a:lnTo>
                      <a:pt x="0" y="800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6731000" cy="803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82600" y="469900"/>
              <a:ext cx="15240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90"/>
                </a:lnSpc>
              </a:pPr>
              <a:r>
                <a:rPr lang="en-US" sz="435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82600" y="2152650"/>
              <a:ext cx="5715000" cy="444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4"/>
                </a:lnSpc>
              </a:pPr>
              <a:r>
                <a:rPr lang="en-US" sz="2325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LOCALIZED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482600" y="3502025"/>
              <a:ext cx="5715000" cy="1352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sz="2025">
                  <a:solidFill>
                    <a:srgbClr val="58717E"/>
                  </a:solidFill>
                  <a:latin typeface="DM Sans"/>
                  <a:ea typeface="DM Sans"/>
                  <a:cs typeface="DM Sans"/>
                  <a:sym typeface="DM Sans"/>
                </a:rPr>
                <a:t>Routes reports to Lagos’s 20 LGAs at neighborhood level for targeted action.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562725" y="2686050"/>
            <a:ext cx="5048250" cy="6000750"/>
            <a:chOff x="0" y="0"/>
            <a:chExt cx="6731000" cy="8001000"/>
          </a:xfrm>
        </p:grpSpPr>
        <p:grpSp>
          <p:nvGrpSpPr>
            <p:cNvPr name="Group 15" id="15"/>
            <p:cNvGrpSpPr/>
            <p:nvPr/>
          </p:nvGrpSpPr>
          <p:grpSpPr>
            <a:xfrm rot="0">
              <a:off x="0" y="0"/>
              <a:ext cx="6731000" cy="8001000"/>
              <a:chOff x="0" y="0"/>
              <a:chExt cx="6731000" cy="8001000"/>
            </a:xfrm>
          </p:grpSpPr>
          <p:sp>
            <p:nvSpPr>
              <p:cNvPr name="Freeform 16" id="16"/>
              <p:cNvSpPr/>
              <p:nvPr/>
            </p:nvSpPr>
            <p:spPr>
              <a:xfrm flipH="false" flipV="false" rot="0">
                <a:off x="0" y="0"/>
                <a:ext cx="6731000" cy="8001000"/>
              </a:xfrm>
              <a:custGeom>
                <a:avLst/>
                <a:gdLst/>
                <a:ahLst/>
                <a:cxnLst/>
                <a:rect r="r" b="b" t="t" l="l"/>
                <a:pathLst>
                  <a:path h="8001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001000"/>
                    </a:lnTo>
                    <a:lnTo>
                      <a:pt x="0" y="8001000"/>
                    </a:lnTo>
                    <a:close/>
                  </a:path>
                </a:pathLst>
              </a:custGeom>
              <a:solidFill>
                <a:srgbClr val="0B5F8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7" id="17"/>
              <p:cNvSpPr txBox="true"/>
              <p:nvPr/>
            </p:nvSpPr>
            <p:spPr>
              <a:xfrm>
                <a:off x="0" y="-38100"/>
                <a:ext cx="6731000" cy="803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8" id="18"/>
            <p:cNvSpPr txBox="true"/>
            <p:nvPr/>
          </p:nvSpPr>
          <p:spPr>
            <a:xfrm rot="0">
              <a:off x="482600" y="469900"/>
              <a:ext cx="15240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90"/>
                </a:lnSpc>
              </a:pPr>
              <a:r>
                <a:rPr lang="en-US" sz="4350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482600" y="2152650"/>
              <a:ext cx="5715000" cy="444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4"/>
                </a:lnSpc>
              </a:pPr>
              <a:r>
                <a:rPr lang="en-US" sz="23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IMPACTFUL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482600" y="3502025"/>
              <a:ext cx="5715000" cy="1352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sz="202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Turns community reports into actionable data for residents and public agencies.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2134850" y="2686050"/>
            <a:ext cx="5048250" cy="6000750"/>
            <a:chOff x="0" y="0"/>
            <a:chExt cx="6731000" cy="8001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731000" cy="8001000"/>
              <a:chOff x="0" y="0"/>
              <a:chExt cx="6731000" cy="8001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731000" cy="8001000"/>
              </a:xfrm>
              <a:custGeom>
                <a:avLst/>
                <a:gdLst/>
                <a:ahLst/>
                <a:cxnLst/>
                <a:rect r="r" b="b" t="t" l="l"/>
                <a:pathLst>
                  <a:path h="8001000" w="6731000">
                    <a:moveTo>
                      <a:pt x="0" y="0"/>
                    </a:moveTo>
                    <a:lnTo>
                      <a:pt x="6731000" y="0"/>
                    </a:lnTo>
                    <a:lnTo>
                      <a:pt x="6731000" y="8001000"/>
                    </a:lnTo>
                    <a:lnTo>
                      <a:pt x="0" y="8001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731000" cy="803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82600" y="469900"/>
              <a:ext cx="1524000" cy="9575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6090"/>
                </a:lnSpc>
              </a:pPr>
              <a:r>
                <a:rPr lang="en-US" sz="435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name="TextBox 26" id="26"/>
            <p:cNvSpPr txBox="true"/>
            <p:nvPr/>
          </p:nvSpPr>
          <p:spPr>
            <a:xfrm rot="0">
              <a:off x="482600" y="2152650"/>
              <a:ext cx="5715000" cy="444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4"/>
                </a:lnSpc>
              </a:pPr>
              <a:r>
                <a:rPr lang="en-US" sz="2325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SDG-LINKED</a:t>
              </a:r>
            </a:p>
          </p:txBody>
        </p:sp>
        <p:sp>
          <p:nvSpPr>
            <p:cNvPr name="TextBox 27" id="27"/>
            <p:cNvSpPr txBox="true"/>
            <p:nvPr/>
          </p:nvSpPr>
          <p:spPr>
            <a:xfrm rot="0">
              <a:off x="482600" y="3502025"/>
              <a:ext cx="5715000" cy="894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sz="2025">
                  <a:solidFill>
                    <a:srgbClr val="58717E"/>
                  </a:solidFill>
                  <a:latin typeface="DM Sans"/>
                  <a:ea typeface="DM Sans"/>
                  <a:cs typeface="DM Sans"/>
                  <a:sym typeface="DM Sans"/>
                </a:rPr>
                <a:t>Directly supports SDG 11 — Cities and SDG 13 — Climate Action.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7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52450"/>
            <a:ext cx="16306800" cy="1381125"/>
            <a:chOff x="0" y="0"/>
            <a:chExt cx="21742400" cy="1841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5207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COS202  /  GROUP 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33425"/>
              <a:ext cx="18415000" cy="771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SDG Alignment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396200" y="12700"/>
              <a:ext cx="13335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b="true" sz="1500" spc="21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07 / 11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828800"/>
              <a:ext cx="21742400" cy="0"/>
            </a:xfrm>
            <a:prstGeom prst="line">
              <a:avLst/>
            </a:prstGeom>
            <a:ln cap="flat" w="25400">
              <a:solidFill>
                <a:srgbClr val="24506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0600" y="2667000"/>
            <a:ext cx="7734300" cy="6191250"/>
            <a:chOff x="0" y="0"/>
            <a:chExt cx="10312400" cy="8255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312400" cy="8255000"/>
              <a:chOff x="0" y="0"/>
              <a:chExt cx="10312400" cy="8255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3124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0312400">
                    <a:moveTo>
                      <a:pt x="0" y="0"/>
                    </a:moveTo>
                    <a:lnTo>
                      <a:pt x="10312400" y="0"/>
                    </a:lnTo>
                    <a:lnTo>
                      <a:pt x="103124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0B496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3124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571500" y="419100"/>
              <a:ext cx="2413000" cy="1849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760"/>
                </a:lnSpc>
              </a:pPr>
              <a:r>
                <a:rPr lang="en-US" sz="8400" b="true">
                  <a:solidFill>
                    <a:srgbClr val="F09B3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3302000" y="908050"/>
              <a:ext cx="6350000" cy="8760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4"/>
                </a:lnSpc>
              </a:pPr>
              <a:r>
                <a:rPr lang="en-US" sz="23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SUSTAINABLE CITIES</a:t>
              </a:r>
            </a:p>
            <a:p>
              <a:pPr algn="l">
                <a:lnSpc>
                  <a:spcPts val="2604"/>
                </a:lnSpc>
              </a:pPr>
              <a:r>
                <a:rPr lang="en-US" sz="23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AND COMMUNITIES</a:t>
              </a:r>
            </a:p>
          </p:txBody>
        </p:sp>
        <p:sp>
          <p:nvSpPr>
            <p:cNvPr name="AutoShape 13" id="13"/>
            <p:cNvSpPr/>
            <p:nvPr/>
          </p:nvSpPr>
          <p:spPr>
            <a:xfrm>
              <a:off x="571500" y="3492500"/>
              <a:ext cx="8902700" cy="0"/>
            </a:xfrm>
            <a:prstGeom prst="line">
              <a:avLst/>
            </a:prstGeom>
            <a:ln cap="flat" w="50800">
              <a:solidFill>
                <a:srgbClr val="F09B32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4" id="14"/>
            <p:cNvSpPr txBox="true"/>
            <p:nvPr/>
          </p:nvSpPr>
          <p:spPr>
            <a:xfrm rot="0">
              <a:off x="571500" y="4162425"/>
              <a:ext cx="8890000" cy="13521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sz="202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Enhances urban resilience through smarter drainage monitoring and faster flood response across Lagos State.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229725" y="2667000"/>
            <a:ext cx="7734300" cy="6191250"/>
            <a:chOff x="0" y="0"/>
            <a:chExt cx="10312400" cy="82550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0312400" cy="8255000"/>
              <a:chOff x="0" y="0"/>
              <a:chExt cx="10312400" cy="8255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0312400" cy="8255000"/>
              </a:xfrm>
              <a:custGeom>
                <a:avLst/>
                <a:gdLst/>
                <a:ahLst/>
                <a:cxnLst/>
                <a:rect r="r" b="b" t="t" l="l"/>
                <a:pathLst>
                  <a:path h="8255000" w="10312400">
                    <a:moveTo>
                      <a:pt x="0" y="0"/>
                    </a:moveTo>
                    <a:lnTo>
                      <a:pt x="10312400" y="0"/>
                    </a:lnTo>
                    <a:lnTo>
                      <a:pt x="10312400" y="8255000"/>
                    </a:lnTo>
                    <a:lnTo>
                      <a:pt x="0" y="8255000"/>
                    </a:lnTo>
                    <a:close/>
                  </a:path>
                </a:pathLst>
              </a:custGeom>
              <a:solidFill>
                <a:srgbClr val="0B3D4B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0312400" cy="8293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571500" y="419100"/>
              <a:ext cx="2413000" cy="18491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11760"/>
                </a:lnSpc>
              </a:pPr>
              <a:r>
                <a:rPr lang="en-US" sz="8400" b="true">
                  <a:solidFill>
                    <a:srgbClr val="3F7E44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13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3302000" y="908050"/>
              <a:ext cx="6350000" cy="4442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604"/>
                </a:lnSpc>
              </a:pPr>
              <a:r>
                <a:rPr lang="en-US" sz="2325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CLIMATE ACTION</a:t>
              </a:r>
            </a:p>
          </p:txBody>
        </p:sp>
        <p:sp>
          <p:nvSpPr>
            <p:cNvPr name="AutoShape 21" id="21"/>
            <p:cNvSpPr/>
            <p:nvPr/>
          </p:nvSpPr>
          <p:spPr>
            <a:xfrm>
              <a:off x="571500" y="3492500"/>
              <a:ext cx="8902700" cy="0"/>
            </a:xfrm>
            <a:prstGeom prst="line">
              <a:avLst/>
            </a:prstGeom>
            <a:ln cap="flat" w="50800">
              <a:solidFill>
                <a:srgbClr val="3F7E44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22" id="22"/>
            <p:cNvSpPr txBox="true"/>
            <p:nvPr/>
          </p:nvSpPr>
          <p:spPr>
            <a:xfrm rot="0">
              <a:off x="571500" y="4162425"/>
              <a:ext cx="8890000" cy="8949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713"/>
                </a:lnSpc>
              </a:pPr>
              <a:r>
                <a:rPr lang="en-US" sz="2025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Supports climate adaptation through data-driven alerts, incident evidence and preventive maintenance.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52450"/>
            <a:ext cx="16306800" cy="1381125"/>
            <a:chOff x="0" y="0"/>
            <a:chExt cx="21742400" cy="1841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5207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COS202  /  GROUP 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33425"/>
              <a:ext cx="18415000" cy="771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Project Objectives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396200" y="12700"/>
              <a:ext cx="13335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b="true" sz="1500" spc="210">
                  <a:solidFill>
                    <a:srgbClr val="0B5F8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08 / 11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828800"/>
              <a:ext cx="21742400" cy="0"/>
            </a:xfrm>
            <a:prstGeom prst="line">
              <a:avLst/>
            </a:prstGeom>
            <a:ln cap="flat" w="25400">
              <a:solidFill>
                <a:srgbClr val="CFE0E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0600" y="2667000"/>
            <a:ext cx="7734300" cy="2667000"/>
            <a:chOff x="0" y="0"/>
            <a:chExt cx="10312400" cy="3556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312400" cy="3556000"/>
              <a:chOff x="0" y="0"/>
              <a:chExt cx="10312400" cy="3556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3124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10312400">
                    <a:moveTo>
                      <a:pt x="0" y="0"/>
                    </a:moveTo>
                    <a:lnTo>
                      <a:pt x="10312400" y="0"/>
                    </a:lnTo>
                    <a:lnTo>
                      <a:pt x="103124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0B5F8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3124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44500" y="415925"/>
              <a:ext cx="1397000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032000" y="698500"/>
              <a:ext cx="7620000" cy="947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2"/>
                </a:lnSpc>
              </a:pPr>
              <a:r>
                <a:rPr lang="en-US" sz="240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Accessible flood and drainage issue reporting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29725" y="2667000"/>
            <a:ext cx="7734300" cy="2667000"/>
            <a:chOff x="0" y="0"/>
            <a:chExt cx="10312400" cy="3556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312400" cy="3556000"/>
              <a:chOff x="0" y="0"/>
              <a:chExt cx="10312400" cy="3556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3124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10312400">
                    <a:moveTo>
                      <a:pt x="0" y="0"/>
                    </a:moveTo>
                    <a:lnTo>
                      <a:pt x="10312400" y="0"/>
                    </a:lnTo>
                    <a:lnTo>
                      <a:pt x="103124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3124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44500" y="415925"/>
              <a:ext cx="1397000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2032000" y="698500"/>
              <a:ext cx="7620000" cy="947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2"/>
                </a:lnSpc>
              </a:pPr>
              <a:r>
                <a:rPr lang="en-US" sz="2400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Prompt routing to the appropriate LGA authority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0600" y="5857875"/>
            <a:ext cx="7734300" cy="2667000"/>
            <a:chOff x="0" y="0"/>
            <a:chExt cx="10312400" cy="3556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0312400" cy="3556000"/>
              <a:chOff x="0" y="0"/>
              <a:chExt cx="10312400" cy="3556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3124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10312400">
                    <a:moveTo>
                      <a:pt x="0" y="0"/>
                    </a:moveTo>
                    <a:lnTo>
                      <a:pt x="10312400" y="0"/>
                    </a:lnTo>
                    <a:lnTo>
                      <a:pt x="103124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3124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44500" y="415925"/>
              <a:ext cx="1397000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2032000" y="698500"/>
              <a:ext cx="7620000" cy="947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2"/>
                </a:lnSpc>
              </a:pPr>
              <a:r>
                <a:rPr lang="en-US" sz="2400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Real-time public flood status and safety alerts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29725" y="5857875"/>
            <a:ext cx="7734300" cy="2667000"/>
            <a:chOff x="0" y="0"/>
            <a:chExt cx="10312400" cy="3556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312400" cy="3556000"/>
              <a:chOff x="0" y="0"/>
              <a:chExt cx="10312400" cy="3556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312400" cy="3556000"/>
              </a:xfrm>
              <a:custGeom>
                <a:avLst/>
                <a:gdLst/>
                <a:ahLst/>
                <a:cxnLst/>
                <a:rect r="r" b="b" t="t" l="l"/>
                <a:pathLst>
                  <a:path h="3556000" w="10312400">
                    <a:moveTo>
                      <a:pt x="0" y="0"/>
                    </a:moveTo>
                    <a:lnTo>
                      <a:pt x="10312400" y="0"/>
                    </a:lnTo>
                    <a:lnTo>
                      <a:pt x="10312400" y="3556000"/>
                    </a:lnTo>
                    <a:lnTo>
                      <a:pt x="0" y="3556000"/>
                    </a:lnTo>
                    <a:close/>
                  </a:path>
                </a:pathLst>
              </a:custGeom>
              <a:solidFill>
                <a:srgbClr val="FFFFF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312400" cy="3594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44500" y="415925"/>
              <a:ext cx="1397000" cy="73977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725"/>
                </a:lnSpc>
              </a:pPr>
              <a:r>
                <a:rPr lang="en-US" sz="3375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2032000" y="698500"/>
              <a:ext cx="7620000" cy="94792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832"/>
                </a:lnSpc>
              </a:pPr>
              <a:r>
                <a:rPr lang="en-US" sz="2400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Statewide data for preventive, long-term management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52450"/>
            <a:ext cx="16306800" cy="1381125"/>
            <a:chOff x="0" y="0"/>
            <a:chExt cx="21742400" cy="1841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5207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COS202  /  GROUP 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33425"/>
              <a:ext cx="18415000" cy="771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Scope and Approach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396200" y="12700"/>
              <a:ext cx="13335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b="true" sz="1500" spc="210">
                  <a:solidFill>
                    <a:srgbClr val="0B5F8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09 / 11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828800"/>
              <a:ext cx="21742400" cy="0"/>
            </a:xfrm>
            <a:prstGeom prst="line">
              <a:avLst/>
            </a:prstGeom>
            <a:ln cap="flat" w="25400">
              <a:solidFill>
                <a:srgbClr val="CFE0E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0600" y="2571750"/>
            <a:ext cx="16306800" cy="1390650"/>
            <a:chOff x="0" y="0"/>
            <a:chExt cx="21742400" cy="18542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651000" cy="1651000"/>
              <a:chOff x="0" y="0"/>
              <a:chExt cx="1651000" cy="1651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0" y="0"/>
                    </a:moveTo>
                    <a:lnTo>
                      <a:pt x="1651000" y="0"/>
                    </a:lnTo>
                    <a:lnTo>
                      <a:pt x="165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B5F8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65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279400" y="460375"/>
              <a:ext cx="10922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01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2362200" y="63500"/>
              <a:ext cx="5842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REFERENCE SITE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2362200" y="685800"/>
              <a:ext cx="17780000" cy="505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Lagos State + 20 LGAs</a:t>
              </a:r>
            </a:p>
          </p:txBody>
        </p:sp>
        <p:sp>
          <p:nvSpPr>
            <p:cNvPr name="AutoShape 14" id="14"/>
            <p:cNvSpPr/>
            <p:nvPr/>
          </p:nvSpPr>
          <p:spPr>
            <a:xfrm>
              <a:off x="2362200" y="1841500"/>
              <a:ext cx="19380200" cy="0"/>
            </a:xfrm>
            <a:prstGeom prst="line">
              <a:avLst/>
            </a:prstGeom>
            <a:ln cap="flat" w="25400">
              <a:solidFill>
                <a:srgbClr val="CFE0E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15" id="15"/>
          <p:cNvGrpSpPr/>
          <p:nvPr/>
        </p:nvGrpSpPr>
        <p:grpSpPr>
          <a:xfrm rot="0">
            <a:off x="990600" y="4286250"/>
            <a:ext cx="16306800" cy="1390650"/>
            <a:chOff x="0" y="0"/>
            <a:chExt cx="21742400" cy="1854200"/>
          </a:xfrm>
        </p:grpSpPr>
        <p:grpSp>
          <p:nvGrpSpPr>
            <p:cNvPr name="Group 16" id="16"/>
            <p:cNvGrpSpPr/>
            <p:nvPr/>
          </p:nvGrpSpPr>
          <p:grpSpPr>
            <a:xfrm rot="0">
              <a:off x="0" y="0"/>
              <a:ext cx="1651000" cy="1651000"/>
              <a:chOff x="0" y="0"/>
              <a:chExt cx="1651000" cy="1651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0" y="0"/>
                    </a:moveTo>
                    <a:lnTo>
                      <a:pt x="1651000" y="0"/>
                    </a:lnTo>
                    <a:lnTo>
                      <a:pt x="165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B5F8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65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279400" y="460375"/>
              <a:ext cx="10922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02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2362200" y="63500"/>
              <a:ext cx="5842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CORE USERS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2362200" y="685800"/>
              <a:ext cx="17780000" cy="505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Residents, commuters, businesses, LGA officials</a:t>
              </a:r>
            </a:p>
          </p:txBody>
        </p:sp>
        <p:sp>
          <p:nvSpPr>
            <p:cNvPr name="AutoShape 22" id="22"/>
            <p:cNvSpPr/>
            <p:nvPr/>
          </p:nvSpPr>
          <p:spPr>
            <a:xfrm>
              <a:off x="2362200" y="1841500"/>
              <a:ext cx="19380200" cy="0"/>
            </a:xfrm>
            <a:prstGeom prst="line">
              <a:avLst/>
            </a:prstGeom>
            <a:ln cap="flat" w="25400">
              <a:solidFill>
                <a:srgbClr val="CFE0E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23" id="23"/>
          <p:cNvGrpSpPr/>
          <p:nvPr/>
        </p:nvGrpSpPr>
        <p:grpSpPr>
          <a:xfrm rot="0">
            <a:off x="990600" y="6000750"/>
            <a:ext cx="16306800" cy="1390650"/>
            <a:chOff x="0" y="0"/>
            <a:chExt cx="21742400" cy="1854200"/>
          </a:xfrm>
        </p:grpSpPr>
        <p:grpSp>
          <p:nvGrpSpPr>
            <p:cNvPr name="Group 24" id="24"/>
            <p:cNvGrpSpPr/>
            <p:nvPr/>
          </p:nvGrpSpPr>
          <p:grpSpPr>
            <a:xfrm rot="0">
              <a:off x="0" y="0"/>
              <a:ext cx="1651000" cy="1651000"/>
              <a:chOff x="0" y="0"/>
              <a:chExt cx="1651000" cy="1651000"/>
            </a:xfrm>
          </p:grpSpPr>
          <p:sp>
            <p:nvSpPr>
              <p:cNvPr name="Freeform 25" id="25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0" y="0"/>
                    </a:moveTo>
                    <a:lnTo>
                      <a:pt x="1651000" y="0"/>
                    </a:lnTo>
                    <a:lnTo>
                      <a:pt x="165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B5F8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6" id="26"/>
              <p:cNvSpPr txBox="true"/>
              <p:nvPr/>
            </p:nvSpPr>
            <p:spPr>
              <a:xfrm>
                <a:off x="0" y="-38100"/>
                <a:ext cx="165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7" id="27"/>
            <p:cNvSpPr txBox="true"/>
            <p:nvPr/>
          </p:nvSpPr>
          <p:spPr>
            <a:xfrm rot="0">
              <a:off x="279400" y="460375"/>
              <a:ext cx="10922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03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2362200" y="63500"/>
              <a:ext cx="5842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CORE FEATURES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2362200" y="685800"/>
              <a:ext cx="17780000" cy="505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Mobile/web reporting, automated routing, public alerts</a:t>
              </a:r>
            </a:p>
          </p:txBody>
        </p:sp>
        <p:sp>
          <p:nvSpPr>
            <p:cNvPr name="AutoShape 30" id="30"/>
            <p:cNvSpPr/>
            <p:nvPr/>
          </p:nvSpPr>
          <p:spPr>
            <a:xfrm>
              <a:off x="2362200" y="1841500"/>
              <a:ext cx="19380200" cy="0"/>
            </a:xfrm>
            <a:prstGeom prst="line">
              <a:avLst/>
            </a:prstGeom>
            <a:ln cap="flat" w="25400">
              <a:solidFill>
                <a:srgbClr val="CFE0E5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31" id="31"/>
          <p:cNvGrpSpPr/>
          <p:nvPr/>
        </p:nvGrpSpPr>
        <p:grpSpPr>
          <a:xfrm rot="0">
            <a:off x="990600" y="7715250"/>
            <a:ext cx="16306800" cy="1390650"/>
            <a:chOff x="0" y="0"/>
            <a:chExt cx="21742400" cy="18542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1651000" cy="1651000"/>
              <a:chOff x="0" y="0"/>
              <a:chExt cx="1651000" cy="16510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1651000" cy="1651000"/>
              </a:xfrm>
              <a:custGeom>
                <a:avLst/>
                <a:gdLst/>
                <a:ahLst/>
                <a:cxnLst/>
                <a:rect r="r" b="b" t="t" l="l"/>
                <a:pathLst>
                  <a:path h="1651000" w="1651000">
                    <a:moveTo>
                      <a:pt x="0" y="0"/>
                    </a:moveTo>
                    <a:lnTo>
                      <a:pt x="1651000" y="0"/>
                    </a:lnTo>
                    <a:lnTo>
                      <a:pt x="1651000" y="1651000"/>
                    </a:lnTo>
                    <a:lnTo>
                      <a:pt x="0" y="1651000"/>
                    </a:lnTo>
                    <a:close/>
                  </a:path>
                </a:pathLst>
              </a:custGeom>
              <a:solidFill>
                <a:srgbClr val="00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1651000" cy="1689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279400" y="460375"/>
              <a:ext cx="1092200" cy="55816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569"/>
                </a:lnSpc>
              </a:pPr>
              <a:r>
                <a:rPr lang="en-US" sz="25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04</a:t>
              </a:r>
            </a:p>
          </p:txBody>
        </p:sp>
        <p:sp>
          <p:nvSpPr>
            <p:cNvPr name="TextBox 36" id="36"/>
            <p:cNvSpPr txBox="true"/>
            <p:nvPr/>
          </p:nvSpPr>
          <p:spPr>
            <a:xfrm rot="0">
              <a:off x="2362200" y="63500"/>
              <a:ext cx="5842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00A6A6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EXPECTED OUTPUT</a:t>
              </a:r>
            </a:p>
          </p:txBody>
        </p:sp>
        <p:sp>
          <p:nvSpPr>
            <p:cNvPr name="TextBox 37" id="37"/>
            <p:cNvSpPr txBox="true"/>
            <p:nvPr/>
          </p:nvSpPr>
          <p:spPr>
            <a:xfrm rot="0">
              <a:off x="2362200" y="685800"/>
              <a:ext cx="17780000" cy="50546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3254"/>
                </a:lnSpc>
              </a:pPr>
              <a:r>
                <a:rPr lang="en-US" sz="2325" b="true">
                  <a:solidFill>
                    <a:srgbClr val="102C3C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Functional prototype piloted in representative LGAs</a:t>
              </a:r>
            </a:p>
          </p:txBody>
        </p:sp>
        <p:sp>
          <p:nvSpPr>
            <p:cNvPr name="AutoShape 38" id="38"/>
            <p:cNvSpPr/>
            <p:nvPr/>
          </p:nvSpPr>
          <p:spPr>
            <a:xfrm>
              <a:off x="2362200" y="1841500"/>
              <a:ext cx="19380200" cy="0"/>
            </a:xfrm>
            <a:prstGeom prst="line">
              <a:avLst/>
            </a:prstGeom>
            <a:ln cap="flat" w="25400">
              <a:solidFill>
                <a:srgbClr val="CFE0E5"/>
              </a:solidFill>
              <a:prstDash val="solid"/>
              <a:headEnd type="none" len="sm" w="sm"/>
              <a:tailEnd type="none" len="sm" w="sm"/>
            </a:ln>
          </p:spPr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7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90600" y="552450"/>
            <a:ext cx="16306800" cy="1381125"/>
            <a:chOff x="0" y="0"/>
            <a:chExt cx="21742400" cy="1841500"/>
          </a:xfrm>
        </p:grpSpPr>
        <p:sp>
          <p:nvSpPr>
            <p:cNvPr name="TextBox 3" id="3"/>
            <p:cNvSpPr txBox="true"/>
            <p:nvPr/>
          </p:nvSpPr>
          <p:spPr>
            <a:xfrm rot="0">
              <a:off x="0" y="-38100"/>
              <a:ext cx="52070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100"/>
                </a:lnSpc>
              </a:pPr>
              <a:r>
                <a:rPr lang="en-US" sz="1500" spc="210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COS202  /  GROUP 9</a:t>
              </a:r>
            </a:p>
          </p:txBody>
        </p:sp>
        <p:sp>
          <p:nvSpPr>
            <p:cNvPr name="TextBox 4" id="4"/>
            <p:cNvSpPr txBox="true"/>
            <p:nvPr/>
          </p:nvSpPr>
          <p:spPr>
            <a:xfrm rot="0">
              <a:off x="0" y="733425"/>
              <a:ext cx="18415000" cy="77127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374"/>
                </a:lnSpc>
              </a:pPr>
              <a:r>
                <a:rPr lang="en-US" sz="4050" b="true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Expected Outcomes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20396200" y="12700"/>
              <a:ext cx="1333500" cy="3429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r">
                <a:lnSpc>
                  <a:spcPts val="2100"/>
                </a:lnSpc>
              </a:pPr>
              <a:r>
                <a:rPr lang="en-US" b="true" sz="1500" spc="210">
                  <a:solidFill>
                    <a:srgbClr val="FFFFFF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10 / 11</a:t>
              </a:r>
            </a:p>
          </p:txBody>
        </p:sp>
        <p:sp>
          <p:nvSpPr>
            <p:cNvPr name="AutoShape 6" id="6"/>
            <p:cNvSpPr/>
            <p:nvPr/>
          </p:nvSpPr>
          <p:spPr>
            <a:xfrm>
              <a:off x="0" y="1828800"/>
              <a:ext cx="21742400" cy="0"/>
            </a:xfrm>
            <a:prstGeom prst="line">
              <a:avLst/>
            </a:prstGeom>
            <a:ln cap="flat" w="25400">
              <a:solidFill>
                <a:srgbClr val="24506A"/>
              </a:solidFill>
              <a:prstDash val="solid"/>
              <a:headEnd type="none" len="sm" w="sm"/>
              <a:tailEnd type="none" len="sm" w="sm"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990600" y="2714625"/>
            <a:ext cx="7734300" cy="2476500"/>
            <a:chOff x="0" y="0"/>
            <a:chExt cx="10312400" cy="3302000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10312400" cy="3302000"/>
              <a:chOff x="0" y="0"/>
              <a:chExt cx="10312400" cy="3302000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03124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312400">
                    <a:moveTo>
                      <a:pt x="0" y="0"/>
                    </a:moveTo>
                    <a:lnTo>
                      <a:pt x="10312400" y="0"/>
                    </a:lnTo>
                    <a:lnTo>
                      <a:pt x="103124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00A6A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03124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482600" y="406400"/>
              <a:ext cx="9271000" cy="782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34"/>
                </a:lnSpc>
              </a:pPr>
              <a:r>
                <a:rPr lang="en-US" sz="3525" b="true">
                  <a:solidFill>
                    <a:srgbClr val="071F33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FASTER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482600" y="1603375"/>
              <a:ext cx="8890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Drain clearing and response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9229725" y="2714625"/>
            <a:ext cx="7734300" cy="2476500"/>
            <a:chOff x="0" y="0"/>
            <a:chExt cx="10312400" cy="33020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10312400" cy="3302000"/>
              <a:chOff x="0" y="0"/>
              <a:chExt cx="10312400" cy="33020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103124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312400">
                    <a:moveTo>
                      <a:pt x="0" y="0"/>
                    </a:moveTo>
                    <a:lnTo>
                      <a:pt x="10312400" y="0"/>
                    </a:lnTo>
                    <a:lnTo>
                      <a:pt x="103124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0B3B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103124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82600" y="406400"/>
              <a:ext cx="9271000" cy="782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34"/>
                </a:lnSpc>
              </a:pPr>
              <a:r>
                <a:rPr lang="en-US" sz="3525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SAFER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482600" y="1603375"/>
              <a:ext cx="8890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Movement during flood events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990600" y="5762625"/>
            <a:ext cx="7734300" cy="2476500"/>
            <a:chOff x="0" y="0"/>
            <a:chExt cx="10312400" cy="3302000"/>
          </a:xfrm>
        </p:grpSpPr>
        <p:grpSp>
          <p:nvGrpSpPr>
            <p:cNvPr name="Group 20" id="20"/>
            <p:cNvGrpSpPr/>
            <p:nvPr/>
          </p:nvGrpSpPr>
          <p:grpSpPr>
            <a:xfrm rot="0">
              <a:off x="0" y="0"/>
              <a:ext cx="10312400" cy="3302000"/>
              <a:chOff x="0" y="0"/>
              <a:chExt cx="10312400" cy="3302000"/>
            </a:xfrm>
          </p:grpSpPr>
          <p:sp>
            <p:nvSpPr>
              <p:cNvPr name="Freeform 21" id="21"/>
              <p:cNvSpPr/>
              <p:nvPr/>
            </p:nvSpPr>
            <p:spPr>
              <a:xfrm flipH="false" flipV="false" rot="0">
                <a:off x="0" y="0"/>
                <a:ext cx="103124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312400">
                    <a:moveTo>
                      <a:pt x="0" y="0"/>
                    </a:moveTo>
                    <a:lnTo>
                      <a:pt x="10312400" y="0"/>
                    </a:lnTo>
                    <a:lnTo>
                      <a:pt x="103124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0B3B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2" id="22"/>
              <p:cNvSpPr txBox="true"/>
              <p:nvPr/>
            </p:nvSpPr>
            <p:spPr>
              <a:xfrm>
                <a:off x="0" y="-38100"/>
                <a:ext cx="103124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3" id="23"/>
            <p:cNvSpPr txBox="true"/>
            <p:nvPr/>
          </p:nvSpPr>
          <p:spPr>
            <a:xfrm rot="0">
              <a:off x="482600" y="406400"/>
              <a:ext cx="9271000" cy="782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34"/>
                </a:lnSpc>
              </a:pPr>
              <a:r>
                <a:rPr lang="en-US" sz="3525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SMARTER</a:t>
              </a:r>
            </a:p>
          </p:txBody>
        </p:sp>
        <p:sp>
          <p:nvSpPr>
            <p:cNvPr name="TextBox 24" id="24"/>
            <p:cNvSpPr txBox="true"/>
            <p:nvPr/>
          </p:nvSpPr>
          <p:spPr>
            <a:xfrm rot="0">
              <a:off x="482600" y="1603375"/>
              <a:ext cx="8890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A reliable incident evidence base</a:t>
              </a:r>
            </a:p>
          </p:txBody>
        </p:sp>
      </p:grpSp>
      <p:grpSp>
        <p:nvGrpSpPr>
          <p:cNvPr name="Group 25" id="25"/>
          <p:cNvGrpSpPr/>
          <p:nvPr/>
        </p:nvGrpSpPr>
        <p:grpSpPr>
          <a:xfrm rot="0">
            <a:off x="9229725" y="5762625"/>
            <a:ext cx="7734300" cy="2476500"/>
            <a:chOff x="0" y="0"/>
            <a:chExt cx="10312400" cy="3302000"/>
          </a:xfrm>
        </p:grpSpPr>
        <p:grpSp>
          <p:nvGrpSpPr>
            <p:cNvPr name="Group 26" id="26"/>
            <p:cNvGrpSpPr/>
            <p:nvPr/>
          </p:nvGrpSpPr>
          <p:grpSpPr>
            <a:xfrm rot="0">
              <a:off x="0" y="0"/>
              <a:ext cx="10312400" cy="3302000"/>
              <a:chOff x="0" y="0"/>
              <a:chExt cx="10312400" cy="3302000"/>
            </a:xfrm>
          </p:grpSpPr>
          <p:sp>
            <p:nvSpPr>
              <p:cNvPr name="Freeform 27" id="27"/>
              <p:cNvSpPr/>
              <p:nvPr/>
            </p:nvSpPr>
            <p:spPr>
              <a:xfrm flipH="false" flipV="false" rot="0">
                <a:off x="0" y="0"/>
                <a:ext cx="10312400" cy="3302000"/>
              </a:xfrm>
              <a:custGeom>
                <a:avLst/>
                <a:gdLst/>
                <a:ahLst/>
                <a:cxnLst/>
                <a:rect r="r" b="b" t="t" l="l"/>
                <a:pathLst>
                  <a:path h="3302000" w="10312400">
                    <a:moveTo>
                      <a:pt x="0" y="0"/>
                    </a:moveTo>
                    <a:lnTo>
                      <a:pt x="10312400" y="0"/>
                    </a:lnTo>
                    <a:lnTo>
                      <a:pt x="10312400" y="3302000"/>
                    </a:lnTo>
                    <a:lnTo>
                      <a:pt x="0" y="3302000"/>
                    </a:lnTo>
                    <a:close/>
                  </a:path>
                </a:pathLst>
              </a:custGeom>
              <a:solidFill>
                <a:srgbClr val="0B3B52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8" id="28"/>
              <p:cNvSpPr txBox="true"/>
              <p:nvPr/>
            </p:nvSpPr>
            <p:spPr>
              <a:xfrm>
                <a:off x="0" y="-38100"/>
                <a:ext cx="10312400" cy="3340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9" id="29"/>
            <p:cNvSpPr txBox="true"/>
            <p:nvPr/>
          </p:nvSpPr>
          <p:spPr>
            <a:xfrm rot="0">
              <a:off x="482600" y="406400"/>
              <a:ext cx="9271000" cy="7823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4934"/>
                </a:lnSpc>
              </a:pPr>
              <a:r>
                <a:rPr lang="en-US" sz="3525" b="true">
                  <a:solidFill>
                    <a:srgbClr val="42D9D2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STRONGER</a:t>
              </a:r>
            </a:p>
          </p:txBody>
        </p:sp>
        <p:sp>
          <p:nvSpPr>
            <p:cNvPr name="TextBox 30" id="30"/>
            <p:cNvSpPr txBox="true"/>
            <p:nvPr/>
          </p:nvSpPr>
          <p:spPr>
            <a:xfrm rot="0">
              <a:off x="482600" y="1603375"/>
              <a:ext cx="88900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>
                  <a:solidFill>
                    <a:srgbClr val="FFFFFF"/>
                  </a:solidFill>
                  <a:latin typeface="DM Sans"/>
                  <a:ea typeface="DM Sans"/>
                  <a:cs typeface="DM Sans"/>
                  <a:sym typeface="DM Sans"/>
                </a:rPr>
                <a:t>Resident–LGA collaboration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07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209550" cy="10287000"/>
            <a:chOff x="0" y="0"/>
            <a:chExt cx="2794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794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79400">
                  <a:moveTo>
                    <a:pt x="0" y="0"/>
                  </a:moveTo>
                  <a:lnTo>
                    <a:pt x="279400" y="0"/>
                  </a:lnTo>
                  <a:lnTo>
                    <a:pt x="2794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42D9D2"/>
            </a:solidFill>
            <a:ln cap="sq">
              <a:noFill/>
              <a:prstDash val="solid"/>
              <a:miter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2794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90600" y="647700"/>
            <a:ext cx="476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42D9D2"/>
                </a:solidFill>
                <a:latin typeface="DM Sans Bold"/>
                <a:ea typeface="DM Sans Bold"/>
                <a:cs typeface="DM Sans Bold"/>
                <a:sym typeface="DM Sans Bold"/>
              </a:rPr>
              <a:t>COS202  /  GROUP 9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90600" y="2428875"/>
            <a:ext cx="11144250" cy="22353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14"/>
              </a:lnSpc>
            </a:pPr>
            <a:r>
              <a:rPr lang="en-US" sz="5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Detect earlier.</a:t>
            </a:r>
          </a:p>
          <a:p>
            <a:pPr algn="l">
              <a:lnSpc>
                <a:spcPts val="5814"/>
              </a:lnSpc>
            </a:pPr>
            <a:r>
              <a:rPr lang="en-US" sz="5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Respond faster.</a:t>
            </a:r>
          </a:p>
          <a:p>
            <a:pPr algn="l">
              <a:lnSpc>
                <a:spcPts val="5814"/>
              </a:lnSpc>
            </a:pPr>
            <a:r>
              <a:rPr lang="en-US" sz="5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Build a flood-resilient Lagos.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90600" y="5972175"/>
            <a:ext cx="10668000" cy="678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3"/>
              </a:lnSpc>
            </a:pPr>
            <a:r>
              <a:rPr lang="en-US" sz="2025">
                <a:solidFill>
                  <a:srgbClr val="B9D6DF"/>
                </a:solidFill>
                <a:latin typeface="DM Sans"/>
                <a:ea typeface="DM Sans"/>
                <a:cs typeface="DM Sans"/>
                <a:sym typeface="DM Sans"/>
              </a:rPr>
              <a:t>SDMFAS connects community intelligence with public action — improving safety, infrastructure upkeep and climate resilience.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2954000" y="2381250"/>
            <a:ext cx="3810000" cy="2190750"/>
            <a:chOff x="0" y="0"/>
            <a:chExt cx="5080000" cy="2921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80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F09B32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80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12954000" y="5143500"/>
            <a:ext cx="3810000" cy="2190750"/>
            <a:chOff x="0" y="0"/>
            <a:chExt cx="5080000" cy="29210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080000" cy="2921000"/>
            </a:xfrm>
            <a:custGeom>
              <a:avLst/>
              <a:gdLst/>
              <a:ahLst/>
              <a:cxnLst/>
              <a:rect r="r" b="b" t="t" l="l"/>
              <a:pathLst>
                <a:path h="2921000" w="5080000">
                  <a:moveTo>
                    <a:pt x="0" y="0"/>
                  </a:moveTo>
                  <a:lnTo>
                    <a:pt x="5080000" y="0"/>
                  </a:lnTo>
                  <a:lnTo>
                    <a:pt x="5080000" y="2921000"/>
                  </a:lnTo>
                  <a:lnTo>
                    <a:pt x="0" y="2921000"/>
                  </a:lnTo>
                  <a:close/>
                </a:path>
              </a:pathLst>
            </a:custGeom>
            <a:solidFill>
              <a:srgbClr val="3F7E44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5080000" cy="2959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13287375" y="2847975"/>
            <a:ext cx="3143250" cy="7748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93"/>
              </a:lnSpc>
            </a:pPr>
            <a:r>
              <a:rPr lang="en-US" sz="24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11</a:t>
            </a:r>
          </a:p>
          <a:p>
            <a:pPr algn="ctr">
              <a:lnSpc>
                <a:spcPts val="3093"/>
              </a:lnSpc>
            </a:pPr>
            <a:r>
              <a:rPr lang="en-US" sz="2475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SUSTAINABLE CITIES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87375" y="5610225"/>
            <a:ext cx="3143250" cy="849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75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13</a:t>
            </a:r>
          </a:p>
          <a:p>
            <a:pPr algn="ctr">
              <a:lnSpc>
                <a:spcPts val="3375"/>
              </a:lnSpc>
            </a:pPr>
            <a:r>
              <a:rPr lang="en-US" sz="2700" b="true">
                <a:solidFill>
                  <a:srgbClr val="FFFFFF"/>
                </a:solidFill>
                <a:latin typeface="DM Sans Bold"/>
                <a:ea typeface="DM Sans Bold"/>
                <a:cs typeface="DM Sans Bold"/>
                <a:sym typeface="DM Sans Bold"/>
              </a:rPr>
              <a:t>CLIMATE ACTION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90600" y="8820150"/>
            <a:ext cx="8572500" cy="2667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0"/>
              </a:lnSpc>
            </a:pPr>
            <a:r>
              <a:rPr lang="en-US" sz="1500" spc="210" b="true">
                <a:solidFill>
                  <a:srgbClr val="42D9D2"/>
                </a:solidFill>
                <a:latin typeface="DM Sans Bold"/>
                <a:ea typeface="DM Sans Bold"/>
                <a:cs typeface="DM Sans Bold"/>
                <a:sym typeface="DM Sans Bold"/>
              </a:rPr>
              <a:t>COMMUNITY REPORTING → PUBLIC RESPONSE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DAHUDDpb2Wo</dc:identifier>
  <dcterms:modified xsi:type="dcterms:W3CDTF">2011-08-01T06:04:30Z</dcterms:modified>
  <cp:revision>1</cp:revision>
</cp:coreProperties>
</file>